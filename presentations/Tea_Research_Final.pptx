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82A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Model 1</c:v>
                  </c:pt>
                  <c:pt idx="1">
                    <c:v>Model 2</c:v>
                  </c:pt>
                  <c:pt idx="2">
                    <c:v>End‑to‑End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</c:v>
                </c:pt>
                <c:pt idx="1">
                  <c:v>0.96</c:v>
                </c:pt>
                <c:pt idx="2">
                  <c:v>0.93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82A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AI-generated background (no external source).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https://images.unsplash.com/photo-1582016448076-551e264dd1e3 (tea leaf photo, Unsplash).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AI-generated background (no external source).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https://images.unsplash.com/photo-1582016448076-551e264dd1e3 (tea leaf photo, Unsplash).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AI-generated background (no external source).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https://images.unsplash.com/photo-1582016448076-551e264dd1e3 (tea leaf photo, Unsplash).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Chart is template data (no external source).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https://images.unsplash.com/photo-1498604636225-6b87a314baa0 (tea cup photo, Unsplash).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AI-generated background (no external source).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features_an_abstract_backg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2960" y="411480"/>
            <a:ext cx="1051560" cy="50292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303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86868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TEA QUALITY GRADING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41248" y="1600200"/>
            <a:ext cx="105091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Freshness Assessment Using Computer Vision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148840"/>
            <a:ext cx="105091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Abeysekara A.M.N • Ms. Wishalya Tissera • Data Science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2514600"/>
            <a:ext cx="105091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1248" y="5715000"/>
            <a:ext cx="1691640" cy="45720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5824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15768" y="5715000"/>
            <a:ext cx="1691640" cy="45720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5768" y="5824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90288" y="5715000"/>
            <a:ext cx="1691640" cy="45720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0288" y="5824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64808" y="5715000"/>
            <a:ext cx="1691640" cy="45720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4808" y="5824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25-26J-133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42976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mnt/data/tea_leaf_closeup.jpg"/>
          <p:cNvPicPr>
            <a:picLocks noChangeAspect="1"/>
          </p:cNvPicPr>
          <p:nvPr/>
        </p:nvPicPr>
        <p:blipFill>
          <a:blip r:embed="rId1"/>
          <a:srcRect l="0" r="0" t="26950" b="26950"/>
          <a:stretch/>
        </p:blipFill>
        <p:spPr>
          <a:xfrm>
            <a:off x="548640" y="822960"/>
            <a:ext cx="4297680" cy="2971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611880"/>
            <a:ext cx="4297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OUR TEAM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4224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4617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Abeysekara A.M.N • IT21212604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965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5312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56601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0" y="8229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114300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Tea Quality Assessment for Mid-Country Sri Lanka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120640" y="18745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One‑line pitch: what you build + why it matters.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120640" y="251460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49240" y="2697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49240" y="30175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• Agriculture • Computer Vision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49640" y="251460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778240" y="2697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78240" y="30175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• Collectors • Factories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120640" y="420624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349240" y="4389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49240" y="4709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plucker payment + Quality control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549640" y="420624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778240" y="4389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778240" y="4709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R‑CNN / YOLO + Web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25-26J-XXX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abstract_background_illustration_fea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2960" y="594360"/>
            <a:ext cx="2834640" cy="411480"/>
          </a:xfrm>
          <a:prstGeom prst="round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58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143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41248" y="18745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architecture: Mobile capture in field → Cloud AI inference → Weighted quality score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3246120" cy="2834640"/>
          </a:xfrm>
          <a:prstGeom prst="round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3063240"/>
            <a:ext cx="731520" cy="731520"/>
          </a:xfrm>
          <a:prstGeom prst="ellipse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319125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920240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" y="393192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TeaVision App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(Field capture + validation)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71416" y="2743200"/>
            <a:ext cx="3246120" cy="2834640"/>
          </a:xfrm>
          <a:prstGeom prst="round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45736" y="3063240"/>
            <a:ext cx="731520" cy="731520"/>
          </a:xfrm>
          <a:prstGeom prst="ellipse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45736" y="319125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568696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45736" y="393192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AdaBoost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(P+1/P+2/P+3 + damage)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119872" y="2743200"/>
            <a:ext cx="3246120" cy="2834640"/>
          </a:xfrm>
          <a:prstGeom prst="round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94192" y="3063240"/>
            <a:ext cx="731520" cy="731520"/>
          </a:xfrm>
          <a:prstGeom prst="ellipse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94192" y="319125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217152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94192" y="393192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Grade + Payment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25-26J-XXX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822960"/>
            <a:ext cx="4251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3" name="Image 0" descr="/mnt/data/tea_leaf_closeup.jpg"/>
          <p:cNvPicPr>
            <a:picLocks noChangeAspect="1"/>
          </p:cNvPicPr>
          <p:nvPr/>
        </p:nvPicPr>
        <p:blipFill>
          <a:blip r:embed="rId1"/>
          <a:srcRect l="0" r="0" t="9140" b="9140"/>
          <a:stretch/>
        </p:blipFill>
        <p:spPr>
          <a:xfrm>
            <a:off x="7406640" y="822960"/>
            <a:ext cx="4251960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822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41248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crisp “why this matters” bullets (no fluff).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011680"/>
            <a:ext cx="6400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240280"/>
            <a:ext cx="228600" cy="228600"/>
          </a:xfrm>
          <a:prstGeom prst="ellipse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320" y="214884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grading is subjective → Plucker payment disputes and inconsistent quality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154680"/>
            <a:ext cx="6400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7280" y="3383280"/>
            <a:ext cx="228600" cy="228600"/>
          </a:xfrm>
          <a:prstGeom prst="ellipse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17320" y="329184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field-level quality feedback → Pluckers unaware of quality until factory rejection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4297680"/>
            <a:ext cx="6400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97280" y="4526280"/>
            <a:ext cx="228600" cy="228600"/>
          </a:xfrm>
          <a:prstGeom prst="ellipse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17320" y="443484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ML systems focus on disease detection, NOT production quality grading (P+1/P+2/P+3)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25-26J-XXX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features_an_abstract_backg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2960" y="594360"/>
            <a:ext cx="2834640" cy="411480"/>
          </a:xfrm>
          <a:prstGeom prst="round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58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143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5394960" cy="393192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0" y="2011680"/>
            <a:ext cx="5303520" cy="393192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26974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system that scores freshness and flags impurities from a bulk tea‑leaf photo.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7512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75120" y="26974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+ annotate dataset with multi-label schema (P+1, P+2, P+3, damage_spot)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classical ML model (AdaBoost) for rapid quality screening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detector (R‑CNN/YOLO) for bulk images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TRI-weighted quality score with damage penalties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25-26J-XXX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Classical ML + Deep Learning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423160"/>
            <a:ext cx="822960" cy="411480"/>
          </a:xfrm>
          <a:prstGeom prst="round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4780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24231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TeaVision Mobile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(Blur/exposure validation)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19456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2423160"/>
            <a:ext cx="822960" cy="411480"/>
          </a:xfrm>
          <a:prstGeom prst="round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4780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24231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→ 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(R‑CNN/YOLO + CNN)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219456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9640" y="2423160"/>
            <a:ext cx="822960" cy="411480"/>
          </a:xfrm>
          <a:prstGeom prst="round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4780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64040" y="24231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Grade + Export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78808" y="2606040"/>
            <a:ext cx="283464" cy="411480"/>
          </a:xfrm>
          <a:prstGeom prst="rightArrow">
            <a:avLst/>
          </a:prstGeom>
          <a:solidFill>
            <a:srgbClr val="1E5A43"/>
          </a:solidFill>
          <a:ln w="12700">
            <a:solidFill>
              <a:srgbClr val="1E5A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27848" y="2606040"/>
            <a:ext cx="283464" cy="411480"/>
          </a:xfrm>
          <a:prstGeom prst="rightArrow">
            <a:avLst/>
          </a:prstGeom>
          <a:solidFill>
            <a:srgbClr val="1E5A43"/>
          </a:solidFill>
          <a:ln w="12700">
            <a:solidFill>
              <a:srgbClr val="1E5A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02336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4279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AdaBoost (96.4% acc) - Rapid Screening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4279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YOLO - Object Detection (P+1/P+2/P+3/damage)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516636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5422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Weighted formula (P+1=10, P+2=8, damage=-penalty)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516636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5422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Flask Web App + TeaVision Kotlin App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25-26J-XXX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669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annotation (overlapping polygons + damage bbox)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Color (RGB/HSV/LAB), Texture (GLCM/LBP), Shape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train/test split to prevent data leakage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ML: AdaBoost, Random Forest, SVM, KNN comparison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(Mask R‑CNN / YOLO)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Macro F1, confusion matrix, per-class accuracy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9377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95160" y="1874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22402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PyTorch/TensorFlow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• Labeling tool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• React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(mobile deployment)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20840" y="4069080"/>
            <a:ext cx="49377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mnt/data/tea_leaf_closeup.jpg"/>
          <p:cNvPicPr>
            <a:picLocks noChangeAspect="1"/>
          </p:cNvPicPr>
          <p:nvPr/>
        </p:nvPicPr>
        <p:blipFill>
          <a:blip r:embed="rId1"/>
          <a:srcRect l="0" r="0" t="36111" b="36111"/>
          <a:stretch/>
        </p:blipFill>
        <p:spPr>
          <a:xfrm>
            <a:off x="6720840" y="4069080"/>
            <a:ext cx="4937760" cy="2057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20840" y="5806440"/>
            <a:ext cx="4937760" cy="3200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12280" y="58247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25-26J-XXX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Pipeline Performance (275 images, 25 features)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64922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0" y="1874520"/>
            <a:ext cx="4069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1097280" y="2148840"/>
          <a:ext cx="59436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818120" y="21488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18120" y="2606040"/>
            <a:ext cx="3520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AdaBoost 96.4%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RF/GB also strong (94.5%)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training in progress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manual labels for validation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25-26J-XXX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RESOURCES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371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operational costs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6766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629400" cy="502920"/>
          </a:xfrm>
          <a:prstGeom prst="roundRect">
            <a:avLst/>
          </a:prstGeom>
          <a:solidFill>
            <a:srgbClr val="1E5A43"/>
          </a:solidFill>
          <a:ln w="12700">
            <a:solidFill>
              <a:srgbClr val="1E5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67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21671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80760" y="21671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651760"/>
            <a:ext cx="6629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980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GPU/Colab Pro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7980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4,000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27980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+ inference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3218688"/>
            <a:ext cx="6629400" cy="566928"/>
          </a:xfrm>
          <a:prstGeom prst="rect">
            <a:avLst/>
          </a:prstGeom>
          <a:solidFill>
            <a:srgbClr val="F3F6F3"/>
          </a:solidFill>
          <a:ln w="12700">
            <a:solidFill>
              <a:srgbClr val="E6E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364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33649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1,500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33649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model weights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3785616"/>
            <a:ext cx="6629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31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Hosting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3931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2,500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3931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+ Dashboard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4352544"/>
            <a:ext cx="6629400" cy="566928"/>
          </a:xfrm>
          <a:prstGeom prst="rect">
            <a:avLst/>
          </a:prstGeom>
          <a:solidFill>
            <a:srgbClr val="F3F6F3"/>
          </a:solidFill>
          <a:ln w="12700">
            <a:solidFill>
              <a:srgbClr val="E6E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4988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Data Collection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34840" y="4498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4,000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4498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estate visits + validation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" y="4919472"/>
            <a:ext cx="6629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0657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50657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LKR 2,000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50657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+ tools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18120" y="1874520"/>
            <a:ext cx="3794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E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30" name="Image 0" descr="/mnt/data/tea_cup_flatlay.jpg"/>
          <p:cNvPicPr>
            <a:picLocks noChangeAspect="1"/>
          </p:cNvPicPr>
          <p:nvPr/>
        </p:nvPicPr>
        <p:blipFill>
          <a:blip r:embed="rId1"/>
          <a:srcRect l="0" r="0" t="1628" b="1628"/>
          <a:stretch/>
        </p:blipFill>
        <p:spPr>
          <a:xfrm>
            <a:off x="7818120" y="1874520"/>
            <a:ext cx="3794760" cy="27432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001000" y="475488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8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keep it tasteful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25-26J-XXX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abstract_background_illustration_fea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3375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it21212604@my.sliit.lk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13C"/>
          </a:solidFill>
          <a:ln w="12700">
            <a:solidFill>
              <a:srgbClr val="C8A1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DDE4DE"/>
          </a:solidFill>
          <a:ln w="12700">
            <a:solidFill>
              <a:srgbClr val="DDE4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 • 25-26J-XXX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 Research</dc:creator>
  <cp:lastModifiedBy>Tea Research</cp:lastModifiedBy>
  <cp:revision>1</cp:revision>
  <dcterms:created xsi:type="dcterms:W3CDTF">2026-01-03T17:46:35Z</dcterms:created>
  <dcterms:modified xsi:type="dcterms:W3CDTF">2026-01-03T17:46:35Z</dcterms:modified>
</cp:coreProperties>
</file>